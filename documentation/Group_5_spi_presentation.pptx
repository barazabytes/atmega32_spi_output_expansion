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2928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095406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387455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6861551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042387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925072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94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6308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2141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512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92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522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4B3963-B07A-C09F-930F-3D78BD3A09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521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825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77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0DE662-C58C-6962-CEAF-F571BB4F6A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267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245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526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8047BE-9DE2-2567-4778-F39C7E1F26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975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1003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0634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A4B0DA-9E8D-8211-4D3B-60F817A557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937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3581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629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B55830-48C5-D8C6-F146-74292E5E0B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37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1910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79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06CEA5-DD3A-9317-AAD6-5EF177E35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23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025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2569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FABC41-87BC-5A43-D7B4-7148F0AC19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888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184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422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B2591D-78AC-F53B-3F7A-5E25F175A3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476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87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16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544497-1988-4695-BBC0-6E3DE67C8F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951607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199" cy="147002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98135625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9943613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3644427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3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4434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87913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368677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21264215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180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735860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14955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057896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7504589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0657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966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32403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05723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96282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4284128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5689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82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234159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802095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8617739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4653813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3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751837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70877314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8811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6020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735633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2108384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00867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72764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72158823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059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140657" name="Title 1"/>
          <p:cNvSpPr>
            <a:spLocks noGrp="1"/>
          </p:cNvSpPr>
          <p:nvPr>
            <p:ph type="title"/>
          </p:nvPr>
        </p:nvSpPr>
        <p:spPr bwMode="auto">
          <a:xfrm>
            <a:off x="609606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6144518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041695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6" y="1435103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264638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8937836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6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23531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8163588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7052200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824137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8171122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9037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08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6687962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135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15831966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595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8354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2952618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825916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5764815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3767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453684" name="Shape 1058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2514118" name="Shape 1059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  <a:headEnd/>
            <a:tailEnd/>
          </a:ln>
        </p:spPr>
      </p:sp>
      <p:sp>
        <p:nvSpPr>
          <p:cNvPr id="443286039" name="Shape 1060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  <a:headEnd/>
            <a:tailEnd/>
          </a:ln>
        </p:spPr>
      </p:sp>
      <p:sp>
        <p:nvSpPr>
          <p:cNvPr id="209873366" name="Shape 1061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254"/>
              </a:srgbClr>
            </a:solidFill>
            <a:round/>
            <a:headEnd/>
            <a:tailEnd/>
          </a:ln>
        </p:spPr>
      </p:sp>
      <p:sp>
        <p:nvSpPr>
          <p:cNvPr id="6944482" name="Shape 1062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5882"/>
              </a:srgbClr>
            </a:solidFill>
            <a:round/>
            <a:headEnd/>
            <a:tailEnd/>
          </a:ln>
        </p:spPr>
      </p:sp>
      <p:sp>
        <p:nvSpPr>
          <p:cNvPr id="856218556" name="Shape 1063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4900"/>
              </a:srgbClr>
            </a:solidFill>
            <a:round/>
            <a:headEnd/>
            <a:tailEnd/>
          </a:ln>
        </p:spPr>
      </p:sp>
      <p:sp>
        <p:nvSpPr>
          <p:cNvPr id="2140888734" name="Shape 1064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3529"/>
              </a:srgbClr>
            </a:solidFill>
            <a:round/>
            <a:headEnd/>
            <a:tailEnd/>
          </a:ln>
        </p:spPr>
      </p:sp>
      <p:sp>
        <p:nvSpPr>
          <p:cNvPr id="1568865501" name="Shape 1065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156"/>
              </a:srgbClr>
            </a:solidFill>
            <a:round/>
            <a:headEnd/>
            <a:tailEnd/>
          </a:ln>
        </p:spPr>
      </p:sp>
      <p:sp>
        <p:nvSpPr>
          <p:cNvPr id="343355066" name="Shape 1066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176"/>
              </a:srgbClr>
            </a:solidFill>
            <a:round/>
            <a:headEnd/>
            <a:tailEnd/>
          </a:ln>
        </p:spPr>
      </p:sp>
      <p:sp>
        <p:nvSpPr>
          <p:cNvPr id="282946151" name="Shape 1067"/>
          <p:cNvSpPr>
            <a:spLocks noChangeArrowheads="1" noGrp="1"/>
          </p:cNvSpPr>
          <p:nvPr userDrawn="1"/>
        </p:nvSpPr>
        <p:spPr bwMode="auto">
          <a:xfrm>
            <a:off x="0" y="2"/>
            <a:ext cx="12191999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9803"/>
              </a:srgbClr>
            </a:solidFill>
            <a:round/>
            <a:headEnd/>
            <a:tailEnd/>
          </a:ln>
        </p:spPr>
      </p:sp>
      <p:sp>
        <p:nvSpPr>
          <p:cNvPr id="1579434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486702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28A2AD-CA6C-4CEE-80DD-5B3591997DB0}" type="datetimeFigureOut">
              <a:rPr/>
              <a:t>22.10.2013</a:t>
            </a:fld>
            <a:endParaRPr/>
          </a:p>
        </p:txBody>
      </p:sp>
      <p:sp>
        <p:nvSpPr>
          <p:cNvPr id="8015513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888863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5014F7-E485-415F-A69C-6237A648DEF6}" type="slidenum">
              <a:rPr/>
              <a:t>‹#›</a:t>
            </a:fld>
            <a:endParaRPr/>
          </a:p>
        </p:txBody>
      </p:sp>
      <p:sp>
        <p:nvSpPr>
          <p:cNvPr id="60619418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34015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914400" y="412749"/>
            <a:ext cx="10363198" cy="51752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3000" b="1" i="0" u="none" strike="noStrike" cap="none" spc="0">
                <a:solidFill>
                  <a:schemeClr val="tx1"/>
                </a:solidFill>
                <a:latin typeface="Times New"/>
                <a:ea typeface="Times New"/>
                <a:cs typeface="Times New"/>
              </a:rPr>
              <a:t>THE UNIVERSITY OF DODOMA</a:t>
            </a:r>
            <a:endParaRPr sz="3000" b="1" i="0" u="none" strike="noStrike" cap="none" spc="0">
              <a:solidFill>
                <a:schemeClr val="tx1"/>
              </a:solidFill>
              <a:latin typeface="Times New"/>
              <a:cs typeface="Times New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tx1"/>
                </a:solidFill>
                <a:latin typeface="Times New"/>
                <a:ea typeface="Times New"/>
                <a:cs typeface="Times New"/>
              </a:rPr>
              <a:t>THE COLLEGE OF INFORMATICS AND VIRTUAL EDUCATION</a:t>
            </a:r>
            <a:endParaRPr sz="3000" b="1" i="0" u="none" strike="noStrike" cap="none" spc="0">
              <a:solidFill>
                <a:schemeClr val="tx1"/>
              </a:solidFill>
              <a:latin typeface="Times New"/>
              <a:cs typeface="Times New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tx1"/>
                </a:solidFill>
                <a:latin typeface="Times New"/>
                <a:ea typeface="Times New"/>
                <a:cs typeface="Times New"/>
              </a:rPr>
              <a:t>DEPARTMENT OF COMPUTER SCIENCE AND ENGINEERING</a:t>
            </a:r>
            <a:r>
              <a:rPr sz="3000">
                <a:latin typeface="Times New"/>
                <a:ea typeface="Times New"/>
                <a:cs typeface="Times New"/>
              </a:rPr>
              <a:t>.</a:t>
            </a:r>
            <a:br>
              <a:rPr sz="3000">
                <a:latin typeface="Times New"/>
                <a:ea typeface="Times New"/>
                <a:cs typeface="Times New"/>
              </a:rPr>
            </a:br>
            <a:br>
              <a:rPr sz="3000">
                <a:latin typeface="Times New"/>
                <a:ea typeface="Times New"/>
                <a:cs typeface="Times New"/>
              </a:rPr>
            </a:br>
            <a:endParaRPr sz="3000" b="1" i="0" u="none" strike="noStrike" cap="none" spc="0">
              <a:solidFill>
                <a:schemeClr val="tx1"/>
              </a:solidFill>
              <a:latin typeface="Times New"/>
              <a:cs typeface="Times New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bg1"/>
                </a:solidFill>
                <a:latin typeface="Times New"/>
                <a:ea typeface="Times New"/>
                <a:cs typeface="Times New"/>
              </a:rPr>
              <a:t>SPI PROJECT REPORT</a:t>
            </a:r>
            <a:r>
              <a:rPr sz="3000" b="1" i="0" u="none" strike="noStrike" cap="none" spc="0">
                <a:solidFill>
                  <a:schemeClr val="bg1"/>
                </a:solidFill>
                <a:latin typeface="Times New"/>
                <a:cs typeface="Times New"/>
              </a:rPr>
              <a:t> PRESENTATION.</a:t>
            </a:r>
            <a:br>
              <a:rPr sz="3000" b="1" i="0" u="none" strike="noStrike" cap="none" spc="0">
                <a:solidFill>
                  <a:schemeClr val="bg1"/>
                </a:solidFill>
                <a:latin typeface="Times New"/>
                <a:cs typeface="Times New"/>
              </a:rPr>
            </a:br>
            <a:endParaRPr sz="3000" b="1" i="0" u="none" strike="noStrike" cap="none" spc="0">
              <a:solidFill>
                <a:schemeClr val="bg1"/>
              </a:solidFill>
              <a:latin typeface="Times New"/>
              <a:cs typeface="Times New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tx1"/>
                </a:solidFill>
                <a:latin typeface="Times New"/>
                <a:ea typeface="Times New"/>
                <a:cs typeface="Times New"/>
              </a:rPr>
              <a:t>COURSE CODE: CT 321</a:t>
            </a:r>
            <a:br>
              <a:rPr lang="en-US" sz="3000" b="1" i="0" u="none" strike="noStrike" cap="none" spc="0">
                <a:solidFill>
                  <a:schemeClr val="tx1"/>
                </a:solidFill>
                <a:latin typeface="Times New"/>
                <a:ea typeface="Times New"/>
                <a:cs typeface="Times New"/>
              </a:rPr>
            </a:br>
            <a:endParaRPr sz="3000" b="1" i="0" u="none" strike="noStrike" cap="none" spc="0">
              <a:solidFill>
                <a:schemeClr val="tx1"/>
              </a:solidFill>
              <a:latin typeface="Times New"/>
              <a:cs typeface="Times New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tx1"/>
                </a:solidFill>
                <a:latin typeface="Times New"/>
                <a:ea typeface="Times New"/>
                <a:cs typeface="Times New"/>
              </a:rPr>
              <a:t>INSTRUCTOR: DR. VICTOR CRALLET</a:t>
            </a:r>
            <a:endParaRPr sz="3000">
              <a:latin typeface="Times New"/>
              <a:cs typeface="Times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1223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4000"/>
          </a:p>
        </p:txBody>
      </p:sp>
      <p:sp>
        <p:nvSpPr>
          <p:cNvPr id="8385110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Microcontrollers often have limited I/O pins.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limits how many devices can be controlled directly.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SPI helps send data using fewer wires.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uses SPI to expand digital outputs</a:t>
            </a:r>
            <a:endParaRPr sz="3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9021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>
                <a:latin typeface="Times New Roman"/>
                <a:ea typeface="Times New Roman"/>
                <a:cs typeface="Times New Roman"/>
              </a:rPr>
              <a:t>PROBLEM STATEMENT.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1577008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Direct GPIO control becomes impractical when many outputs are needed.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outputs usually require more pins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addresses this by expanding outputs with a shift register</a:t>
            </a:r>
            <a:r>
              <a:rPr sz="3300"/>
              <a:t>.</a:t>
            </a:r>
            <a:endParaRPr sz="3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0155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>
                <a:latin typeface="Times New"/>
                <a:ea typeface="Times New"/>
                <a:cs typeface="Times New"/>
              </a:rPr>
              <a:t>PROPOSED SOLUTION</a:t>
            </a:r>
            <a:endParaRPr sz="4000">
              <a:latin typeface="Times New"/>
              <a:cs typeface="Times New"/>
            </a:endParaRPr>
          </a:p>
        </p:txBody>
      </p:sp>
      <p:sp>
        <p:nvSpPr>
          <p:cNvPr id="5834086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ATmega32 acts as the SPI master.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74HC595 acts as the serial-to-parallel output expander.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Serial data is sent through MOSI and SCK.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latch signal updates the LED outputs</a:t>
            </a:r>
            <a:endParaRPr sz="3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258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>
                <a:latin typeface="Times New"/>
                <a:ea typeface="Times New"/>
                <a:cs typeface="Times New"/>
              </a:rPr>
              <a:t>OBJECTIVES</a:t>
            </a:r>
            <a:endParaRPr sz="4000"/>
          </a:p>
        </p:txBody>
      </p:sp>
      <p:sp>
        <p:nvSpPr>
          <p:cNvPr id="1307502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Build SPI communication between ATmega32 and 74HC595.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 firmware for pattern generation and output control.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buttons for left shift, right shift, and blink patterns.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 schematic and PCB in KiCad.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Simulate and verify the system in SimulIDE.</a:t>
            </a:r>
            <a:endParaRPr sz="3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5460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>
                <a:latin typeface="Times New"/>
                <a:ea typeface="Times New"/>
                <a:cs typeface="Times New"/>
              </a:rPr>
              <a:t>SYSTEM DESIGN</a:t>
            </a:r>
            <a:endParaRPr sz="4000">
              <a:latin typeface="Times New"/>
              <a:cs typeface="Times New"/>
            </a:endParaRPr>
          </a:p>
        </p:txBody>
      </p:sp>
      <p:sp>
        <p:nvSpPr>
          <p:cNvPr id="13778961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has five main blocks: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input block.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Control block.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Communication block.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 expansion block.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Display block</a:t>
            </a:r>
            <a:endParaRPr sz="3300"/>
          </a:p>
        </p:txBody>
      </p:sp>
      <p:pic>
        <p:nvPicPr>
          <p:cNvPr id="2955418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14999" y="2238870"/>
            <a:ext cx="6475374" cy="41111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7125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>
                <a:latin typeface="Times New"/>
                <a:ea typeface="Times New"/>
                <a:cs typeface="Times New"/>
              </a:rPr>
              <a:t>HARDWARE COMPONENTS</a:t>
            </a:r>
            <a:endParaRPr sz="4000">
              <a:latin typeface="Times New"/>
              <a:cs typeface="Times New"/>
            </a:endParaRPr>
          </a:p>
        </p:txBody>
      </p:sp>
      <p:sp>
        <p:nvSpPr>
          <p:cNvPr id="14215631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ATmega32 microcontroller.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74HC595 shift register.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Eight LEDs.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Current-limiting resistors.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Push buttons.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Crystal oscillator and power supply components</a:t>
            </a:r>
            <a:endParaRPr sz="3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4378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000">
                <a:latin typeface="Times New"/>
                <a:ea typeface="Times New"/>
                <a:cs typeface="Times New"/>
              </a:rPr>
              <a:t>IMPLEMENTATION</a:t>
            </a:r>
            <a:endParaRPr sz="4000">
              <a:latin typeface="Times New"/>
              <a:cs typeface="Times New"/>
            </a:endParaRPr>
          </a:p>
        </p:txBody>
      </p:sp>
      <p:sp>
        <p:nvSpPr>
          <p:cNvPr id="13151138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Schematic and PCB were designed in KiCad.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Firmware was developed in MPLAB for VS Code using C.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Decoupling capacitors were added for stability.</a:t>
            </a:r>
            <a:endParaRPr sz="3300"/>
          </a:p>
        </p:txBody>
      </p:sp>
      <p:pic>
        <p:nvPicPr>
          <p:cNvPr id="5513252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04999" y="3285981"/>
            <a:ext cx="7985124" cy="3257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612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Times New"/>
                <a:ea typeface="Times New"/>
                <a:cs typeface="Times New"/>
              </a:rPr>
              <a:t>SIMULATION AND TESTING</a:t>
            </a:r>
            <a:endParaRPr>
              <a:latin typeface="Times New"/>
              <a:cs typeface="Times New"/>
            </a:endParaRPr>
          </a:p>
        </p:txBody>
      </p:sp>
      <p:sp>
        <p:nvSpPr>
          <p:cNvPr id="17360608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circuit was simulated in SimulIDE.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report states all test cases passed</a:t>
            </a:r>
            <a:endParaRPr sz="3300"/>
          </a:p>
          <a:p>
            <a:pPr>
              <a:defRPr/>
            </a:pPr>
            <a:endParaRPr sz="3300"/>
          </a:p>
        </p:txBody>
      </p:sp>
      <p:pic>
        <p:nvPicPr>
          <p:cNvPr id="15286923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84374" y="2630846"/>
            <a:ext cx="7889874" cy="4004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2061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Times New"/>
                <a:ea typeface="Times New"/>
                <a:cs typeface="Times New"/>
              </a:rPr>
              <a:t>CONCLUSION</a:t>
            </a:r>
            <a:endParaRPr>
              <a:latin typeface="Times New"/>
              <a:cs typeface="Times New"/>
            </a:endParaRPr>
          </a:p>
        </p:txBody>
      </p:sp>
      <p:sp>
        <p:nvSpPr>
          <p:cNvPr id="5592637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successfully expanded digital output using SPI.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reduced the number of microcontroller pins needed.</a:t>
            </a:r>
            <a:endParaRPr sz="3300"/>
          </a:p>
          <a:p>
            <a:pPr>
              <a:defRPr/>
            </a:pPr>
            <a:r>
              <a:rPr sz="3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worked correctly in simulation.</a:t>
            </a:r>
            <a:endParaRPr sz="3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2026-07-01T08:01:54Z</dcterms:modified>
</cp:coreProperties>
</file>